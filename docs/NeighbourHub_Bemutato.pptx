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A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alphaModFix amt="50000"/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BFECC359-08E3-4DDA-A705-385E870456A2}"/>
              </a:ext>
            </a:extLst>
          </p:cNvPr>
          <p:cNvSpPr txBox="1"/>
          <p:nvPr/>
        </p:nvSpPr>
        <p:spPr>
          <a:xfrm>
            <a:off x="2410178" y="3075057"/>
            <a:ext cx="4323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NeighbourHub</a:t>
            </a:r>
            <a:endParaRPr lang="hu-HU" sz="40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69748CE4-39A2-442B-9C6B-3417ACAC0B2F}"/>
              </a:ext>
            </a:extLst>
          </p:cNvPr>
          <p:cNvSpPr txBox="1"/>
          <p:nvPr/>
        </p:nvSpPr>
        <p:spPr>
          <a:xfrm>
            <a:off x="2799644" y="3633162"/>
            <a:ext cx="4786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rgbClr val="002060"/>
                </a:solidFill>
              </a:rPr>
              <a:t>Smart</a:t>
            </a:r>
            <a:r>
              <a:rPr lang="hu-HU" dirty="0">
                <a:solidFill>
                  <a:srgbClr val="002060"/>
                </a:solidFill>
              </a:rPr>
              <a:t> </a:t>
            </a:r>
            <a:r>
              <a:rPr lang="hu-HU" dirty="0" err="1">
                <a:solidFill>
                  <a:srgbClr val="002060"/>
                </a:solidFill>
              </a:rPr>
              <a:t>Community</a:t>
            </a:r>
            <a:r>
              <a:rPr lang="hu-HU" dirty="0">
                <a:solidFill>
                  <a:srgbClr val="002060"/>
                </a:solidFill>
              </a:rPr>
              <a:t>, </a:t>
            </a:r>
            <a:r>
              <a:rPr lang="hu-HU" dirty="0" err="1">
                <a:solidFill>
                  <a:srgbClr val="002060"/>
                </a:solidFill>
              </a:rPr>
              <a:t>Simple</a:t>
            </a:r>
            <a:r>
              <a:rPr lang="hu-HU" dirty="0">
                <a:solidFill>
                  <a:srgbClr val="002060"/>
                </a:solidFill>
              </a:rPr>
              <a:t> </a:t>
            </a:r>
            <a:r>
              <a:rPr lang="hu-HU" dirty="0" err="1">
                <a:solidFill>
                  <a:srgbClr val="002060"/>
                </a:solidFill>
              </a:rPr>
              <a:t>Living</a:t>
            </a:r>
            <a:endParaRPr lang="hu-HU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8046720" cy="731520"/>
          </a:xfrm>
          <a:prstGeom prst="roundRect">
            <a:avLst/>
          </a:prstGeom>
          <a:solidFill>
            <a:srgbClr val="002060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Mi a NeighbourHub?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95036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A </a:t>
            </a:r>
            <a:r>
              <a:rPr dirty="0" err="1">
                <a:solidFill>
                  <a:srgbClr val="002060"/>
                </a:solidFill>
              </a:rPr>
              <a:t>NeighbourHub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egy</a:t>
            </a:r>
            <a:r>
              <a:rPr dirty="0">
                <a:solidFill>
                  <a:srgbClr val="002060"/>
                </a:solidFill>
              </a:rPr>
              <a:t> modern </a:t>
            </a:r>
            <a:r>
              <a:rPr dirty="0" err="1">
                <a:solidFill>
                  <a:srgbClr val="002060"/>
                </a:solidFill>
              </a:rPr>
              <a:t>lakóközösségi</a:t>
            </a:r>
            <a:r>
              <a:rPr dirty="0">
                <a:solidFill>
                  <a:srgbClr val="002060"/>
                </a:solidFill>
              </a:rPr>
              <a:t> platform.</a:t>
            </a: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Segíti</a:t>
            </a:r>
            <a:r>
              <a:rPr dirty="0">
                <a:solidFill>
                  <a:srgbClr val="002060"/>
                </a:solidFill>
              </a:rPr>
              <a:t> a </a:t>
            </a:r>
            <a:r>
              <a:rPr dirty="0" err="1">
                <a:solidFill>
                  <a:srgbClr val="002060"/>
                </a:solidFill>
              </a:rPr>
              <a:t>lakók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közötti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kommunikációt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az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információmegosztást</a:t>
            </a:r>
            <a:r>
              <a:rPr dirty="0">
                <a:solidFill>
                  <a:srgbClr val="002060"/>
                </a:solidFill>
              </a:rPr>
              <a:t>.</a:t>
            </a: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Lehetővé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teszi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szavazások</a:t>
            </a:r>
            <a:r>
              <a:rPr dirty="0">
                <a:solidFill>
                  <a:srgbClr val="002060"/>
                </a:solidFill>
              </a:rPr>
              <a:t>, </a:t>
            </a:r>
            <a:r>
              <a:rPr dirty="0" err="1">
                <a:solidFill>
                  <a:srgbClr val="002060"/>
                </a:solidFill>
              </a:rPr>
              <a:t>foglalások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üzenetek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kezelését</a:t>
            </a:r>
            <a:r>
              <a:rPr dirty="0">
                <a:solidFill>
                  <a:srgbClr val="002060"/>
                </a:solidFill>
              </a:rPr>
              <a:t>.</a:t>
            </a: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Átlátható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könnyen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használható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felületet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biztosít</a:t>
            </a:r>
            <a:r>
              <a:rPr dirty="0">
                <a:solidFill>
                  <a:srgbClr val="00206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8046720" cy="731520"/>
          </a:xfrm>
          <a:prstGeom prst="roundRect">
            <a:avLst/>
          </a:prstGeom>
          <a:solidFill>
            <a:srgbClr val="002060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Főbb funkciók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38506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Szavazások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létrehozása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kezelése</a:t>
            </a:r>
            <a:endParaRPr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Lakók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közötti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privát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üzenetküldés</a:t>
            </a:r>
            <a:endParaRPr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Közösségi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helyiségek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foglalása</a:t>
            </a:r>
            <a:endParaRPr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Dokumentumok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alaprajzok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kezelése</a:t>
            </a:r>
            <a:endParaRPr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Hibabejelentések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események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megjelenítése</a:t>
            </a:r>
            <a:endParaRPr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Admin </a:t>
            </a:r>
            <a:r>
              <a:rPr dirty="0" err="1">
                <a:solidFill>
                  <a:srgbClr val="002060"/>
                </a:solidFill>
              </a:rPr>
              <a:t>felület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felhasználókezeléssel</a:t>
            </a:r>
            <a:endParaRPr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8046720" cy="731520"/>
          </a:xfrm>
          <a:prstGeom prst="roundRect">
            <a:avLst/>
          </a:prstGeom>
          <a:solidFill>
            <a:srgbClr val="002060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Felhasznált technológiák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4595040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Frontend: Angular, TypeScript, HTML, CSS</a:t>
            </a: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Backend: ASP.NET Core Web API</a:t>
            </a: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Adatbázis</a:t>
            </a:r>
            <a:r>
              <a:rPr dirty="0">
                <a:solidFill>
                  <a:srgbClr val="002060"/>
                </a:solidFill>
              </a:rPr>
              <a:t>: MSSQL / </a:t>
            </a:r>
            <a:r>
              <a:rPr dirty="0" err="1">
                <a:solidFill>
                  <a:srgbClr val="002060"/>
                </a:solidFill>
              </a:rPr>
              <a:t>LocalDB</a:t>
            </a:r>
            <a:endParaRPr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Hitelesítés</a:t>
            </a:r>
            <a:r>
              <a:rPr dirty="0">
                <a:solidFill>
                  <a:srgbClr val="002060"/>
                </a:solidFill>
              </a:rPr>
              <a:t>: JWT Token </a:t>
            </a:r>
            <a:r>
              <a:rPr dirty="0" err="1">
                <a:solidFill>
                  <a:srgbClr val="002060"/>
                </a:solidFill>
              </a:rPr>
              <a:t>alapú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autentikáció</a:t>
            </a:r>
            <a:endParaRPr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Swagger UI API </a:t>
            </a:r>
            <a:r>
              <a:rPr dirty="0" err="1">
                <a:solidFill>
                  <a:srgbClr val="002060"/>
                </a:solidFill>
              </a:rPr>
              <a:t>dokumentációhoz</a:t>
            </a:r>
            <a:endParaRPr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GitHub Projects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SCRUM </a:t>
            </a:r>
            <a:r>
              <a:rPr dirty="0" err="1">
                <a:solidFill>
                  <a:srgbClr val="002060"/>
                </a:solidFill>
              </a:rPr>
              <a:t>alapú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fejlesztés</a:t>
            </a:r>
            <a:endParaRPr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8046720" cy="731520"/>
          </a:xfrm>
          <a:prstGeom prst="roundRect">
            <a:avLst/>
          </a:prstGeom>
          <a:solidFill>
            <a:srgbClr val="002060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Packages &amp; Node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65955"/>
            <a:ext cx="85039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 err="1">
                <a:solidFill>
                  <a:srgbClr val="002060"/>
                </a:solidFill>
              </a:rPr>
              <a:t>Angular</a:t>
            </a:r>
            <a:r>
              <a:rPr lang="hu-HU" sz="2000" dirty="0">
                <a:solidFill>
                  <a:srgbClr val="002060"/>
                </a:solidFill>
              </a:rPr>
              <a:t> 19 (</a:t>
            </a:r>
            <a:r>
              <a:rPr lang="hu-HU" sz="2000" dirty="0" err="1">
                <a:solidFill>
                  <a:srgbClr val="002060"/>
                </a:solidFill>
              </a:rPr>
              <a:t>Core</a:t>
            </a:r>
            <a:r>
              <a:rPr lang="hu-HU" sz="2000" dirty="0">
                <a:solidFill>
                  <a:srgbClr val="002060"/>
                </a:solidFill>
              </a:rPr>
              <a:t>, CLI &amp; Router) – Modern, komponensalapú frontend keretrendszer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 err="1">
                <a:solidFill>
                  <a:srgbClr val="002060"/>
                </a:solidFill>
              </a:rPr>
              <a:t>TypeScript</a:t>
            </a:r>
            <a:r>
              <a:rPr lang="hu-HU" sz="2000" dirty="0">
                <a:solidFill>
                  <a:srgbClr val="002060"/>
                </a:solidFill>
              </a:rPr>
              <a:t> 5.7 – Típusbiztos, skálázható kliensoldali programozási nyelv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 err="1">
                <a:solidFill>
                  <a:srgbClr val="002060"/>
                </a:solidFill>
              </a:rPr>
              <a:t>RxJS</a:t>
            </a:r>
            <a:r>
              <a:rPr lang="hu-HU" sz="2000" dirty="0">
                <a:solidFill>
                  <a:srgbClr val="002060"/>
                </a:solidFill>
              </a:rPr>
              <a:t> – Reaktív programozás és aszinkron adatfolyamok kezelése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>
                <a:solidFill>
                  <a:srgbClr val="002060"/>
                </a:solidFill>
              </a:rPr>
              <a:t>@</a:t>
            </a:r>
            <a:r>
              <a:rPr lang="hu-HU" sz="2000" dirty="0" err="1">
                <a:solidFill>
                  <a:srgbClr val="002060"/>
                </a:solidFill>
              </a:rPr>
              <a:t>ngneat</a:t>
            </a:r>
            <a:r>
              <a:rPr lang="hu-HU" sz="2000" dirty="0">
                <a:solidFill>
                  <a:srgbClr val="002060"/>
                </a:solidFill>
              </a:rPr>
              <a:t>/</a:t>
            </a:r>
            <a:r>
              <a:rPr lang="hu-HU" sz="2000" dirty="0" err="1">
                <a:solidFill>
                  <a:srgbClr val="002060"/>
                </a:solidFill>
              </a:rPr>
              <a:t>until-destroy</a:t>
            </a:r>
            <a:r>
              <a:rPr lang="hu-HU" sz="2000" dirty="0">
                <a:solidFill>
                  <a:srgbClr val="002060"/>
                </a:solidFill>
              </a:rPr>
              <a:t> – Hatékony, automatikus memóriakezelés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 err="1">
                <a:solidFill>
                  <a:srgbClr val="002060"/>
                </a:solidFill>
              </a:rPr>
              <a:t>Bootstrap</a:t>
            </a:r>
            <a:r>
              <a:rPr lang="hu-HU" sz="2000" dirty="0">
                <a:solidFill>
                  <a:srgbClr val="002060"/>
                </a:solidFill>
              </a:rPr>
              <a:t> 5 &amp; </a:t>
            </a:r>
            <a:r>
              <a:rPr lang="hu-HU" sz="2000" dirty="0" err="1">
                <a:solidFill>
                  <a:srgbClr val="002060"/>
                </a:solidFill>
              </a:rPr>
              <a:t>Bootstrap</a:t>
            </a:r>
            <a:r>
              <a:rPr lang="hu-HU" sz="2000" dirty="0">
                <a:solidFill>
                  <a:srgbClr val="002060"/>
                </a:solidFill>
              </a:rPr>
              <a:t> </a:t>
            </a:r>
            <a:r>
              <a:rPr lang="hu-HU" sz="2000" dirty="0" err="1">
                <a:solidFill>
                  <a:srgbClr val="002060"/>
                </a:solidFill>
              </a:rPr>
              <a:t>Icons</a:t>
            </a:r>
            <a:r>
              <a:rPr lang="hu-HU" sz="2000" dirty="0">
                <a:solidFill>
                  <a:srgbClr val="002060"/>
                </a:solidFill>
              </a:rPr>
              <a:t> – Reszponzív dizájn és modern ikonkészlet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 err="1">
                <a:solidFill>
                  <a:srgbClr val="002060"/>
                </a:solidFill>
              </a:rPr>
              <a:t>Entity</a:t>
            </a:r>
            <a:r>
              <a:rPr lang="hu-HU" sz="2000" dirty="0">
                <a:solidFill>
                  <a:srgbClr val="002060"/>
                </a:solidFill>
              </a:rPr>
              <a:t> Framework </a:t>
            </a:r>
            <a:r>
              <a:rPr lang="hu-HU" sz="2000" dirty="0" err="1">
                <a:solidFill>
                  <a:srgbClr val="002060"/>
                </a:solidFill>
              </a:rPr>
              <a:t>Core</a:t>
            </a:r>
            <a:r>
              <a:rPr lang="hu-HU" sz="2000" dirty="0">
                <a:solidFill>
                  <a:srgbClr val="002060"/>
                </a:solidFill>
              </a:rPr>
              <a:t> – Backend adatbázis-kezelés és ORM rendszer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>
                <a:solidFill>
                  <a:srgbClr val="002060"/>
                </a:solidFill>
              </a:rPr>
              <a:t>JWT </a:t>
            </a:r>
            <a:r>
              <a:rPr lang="hu-HU" sz="2000" dirty="0" err="1">
                <a:solidFill>
                  <a:srgbClr val="002060"/>
                </a:solidFill>
              </a:rPr>
              <a:t>Authentication</a:t>
            </a:r>
            <a:r>
              <a:rPr lang="hu-HU" sz="2000" dirty="0">
                <a:solidFill>
                  <a:srgbClr val="002060"/>
                </a:solidFill>
              </a:rPr>
              <a:t> – Biztonságos, </a:t>
            </a:r>
            <a:r>
              <a:rPr lang="hu-HU" sz="2000" dirty="0" err="1">
                <a:solidFill>
                  <a:srgbClr val="002060"/>
                </a:solidFill>
              </a:rPr>
              <a:t>token</a:t>
            </a:r>
            <a:r>
              <a:rPr lang="hu-HU" sz="2000" dirty="0">
                <a:solidFill>
                  <a:srgbClr val="002060"/>
                </a:solidFill>
              </a:rPr>
              <a:t>-alapú felhasználói hitelesítés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541"/>
                </a:solidFill>
              </a:defRPr>
            </a:pPr>
            <a:r>
              <a:rPr lang="hu-HU" sz="2000" dirty="0" err="1">
                <a:solidFill>
                  <a:srgbClr val="002060"/>
                </a:solidFill>
              </a:rPr>
              <a:t>Jasmine</a:t>
            </a:r>
            <a:r>
              <a:rPr lang="hu-HU" sz="2000" dirty="0">
                <a:solidFill>
                  <a:srgbClr val="002060"/>
                </a:solidFill>
              </a:rPr>
              <a:t> &amp; Karma – Automatizált unit (egység) tesztelés és kódlefedettség-mérés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8046720" cy="731520"/>
          </a:xfrm>
          <a:prstGeom prst="roundRect">
            <a:avLst/>
          </a:prstGeom>
          <a:solidFill>
            <a:srgbClr val="002060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Projekt összegzés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31664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Modern, </a:t>
            </a:r>
            <a:r>
              <a:rPr dirty="0" err="1">
                <a:solidFill>
                  <a:srgbClr val="002060"/>
                </a:solidFill>
              </a:rPr>
              <a:t>skálázható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fullstack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webalkalmazás</a:t>
            </a:r>
            <a:endParaRPr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Valós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lakóközösségi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problémák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megoldására</a:t>
            </a:r>
            <a:endParaRPr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Csapatmunka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és</a:t>
            </a:r>
            <a:r>
              <a:rPr dirty="0">
                <a:solidFill>
                  <a:srgbClr val="002060"/>
                </a:solidFill>
              </a:rPr>
              <a:t> SCRUM </a:t>
            </a:r>
            <a:r>
              <a:rPr dirty="0" err="1">
                <a:solidFill>
                  <a:srgbClr val="002060"/>
                </a:solidFill>
              </a:rPr>
              <a:t>módszertan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alkalmazása</a:t>
            </a:r>
            <a:endParaRPr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Óbudai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Egyetem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projektmunka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keretében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készült</a:t>
            </a:r>
            <a:endParaRPr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75969" y="2536448"/>
            <a:ext cx="5192062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C2541"/>
                </a:solidFill>
              </a:defRPr>
            </a:pPr>
            <a:r>
              <a:rPr dirty="0">
                <a:solidFill>
                  <a:srgbClr val="002060"/>
                </a:solidFill>
              </a:rPr>
              <a:t>Nagy </a:t>
            </a:r>
            <a:r>
              <a:rPr dirty="0" err="1">
                <a:solidFill>
                  <a:srgbClr val="002060"/>
                </a:solidFill>
              </a:rPr>
              <a:t>Zsombor</a:t>
            </a:r>
            <a:r>
              <a:rPr dirty="0">
                <a:solidFill>
                  <a:srgbClr val="002060"/>
                </a:solidFill>
              </a:rPr>
              <a:t> – Architect</a:t>
            </a:r>
          </a:p>
          <a:p>
            <a:pPr algn="ctr">
              <a:defRPr sz="22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Szabó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Benedek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Zoltán</a:t>
            </a:r>
            <a:r>
              <a:rPr dirty="0">
                <a:solidFill>
                  <a:srgbClr val="002060"/>
                </a:solidFill>
              </a:rPr>
              <a:t> – </a:t>
            </a:r>
            <a:r>
              <a:rPr dirty="0" err="1">
                <a:solidFill>
                  <a:srgbClr val="002060"/>
                </a:solidFill>
              </a:rPr>
              <a:t>Fullstack</a:t>
            </a:r>
            <a:r>
              <a:rPr dirty="0">
                <a:solidFill>
                  <a:srgbClr val="002060"/>
                </a:solidFill>
              </a:rPr>
              <a:t> Developer</a:t>
            </a:r>
          </a:p>
          <a:p>
            <a:pPr algn="ctr">
              <a:defRPr sz="22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Tolnai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Levente</a:t>
            </a:r>
            <a:r>
              <a:rPr dirty="0">
                <a:solidFill>
                  <a:srgbClr val="002060"/>
                </a:solidFill>
              </a:rPr>
              <a:t> – </a:t>
            </a:r>
            <a:r>
              <a:rPr dirty="0" err="1">
                <a:solidFill>
                  <a:srgbClr val="002060"/>
                </a:solidFill>
              </a:rPr>
              <a:t>Fullstack</a:t>
            </a:r>
            <a:r>
              <a:rPr dirty="0">
                <a:solidFill>
                  <a:srgbClr val="002060"/>
                </a:solidFill>
              </a:rPr>
              <a:t> Developer</a:t>
            </a:r>
          </a:p>
          <a:p>
            <a:pPr algn="ctr">
              <a:defRPr sz="2200">
                <a:solidFill>
                  <a:srgbClr val="1C2541"/>
                </a:solidFill>
              </a:defRPr>
            </a:pPr>
            <a:r>
              <a:rPr dirty="0" err="1">
                <a:solidFill>
                  <a:srgbClr val="002060"/>
                </a:solidFill>
              </a:rPr>
              <a:t>Zsebeházi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Máté</a:t>
            </a:r>
            <a:r>
              <a:rPr dirty="0">
                <a:solidFill>
                  <a:srgbClr val="002060"/>
                </a:solidFill>
              </a:rPr>
              <a:t> – </a:t>
            </a:r>
            <a:r>
              <a:rPr dirty="0" err="1">
                <a:solidFill>
                  <a:srgbClr val="002060"/>
                </a:solidFill>
              </a:rPr>
              <a:t>Fullstack</a:t>
            </a:r>
            <a:r>
              <a:rPr dirty="0">
                <a:solidFill>
                  <a:srgbClr val="002060"/>
                </a:solidFill>
              </a:rPr>
              <a:t> Developer</a:t>
            </a:r>
            <a:endParaRPr lang="hu-HU" dirty="0">
              <a:solidFill>
                <a:srgbClr val="002060"/>
              </a:solidFill>
            </a:endParaRPr>
          </a:p>
          <a:p>
            <a:pPr algn="ctr">
              <a:defRPr sz="2200">
                <a:solidFill>
                  <a:srgbClr val="1C2541"/>
                </a:solidFill>
              </a:defRPr>
            </a:pPr>
            <a:r>
              <a:rPr lang="hu-HU">
                <a:solidFill>
                  <a:srgbClr val="002060"/>
                </a:solidFill>
              </a:rPr>
              <a:t>Hanusz Bettina Alexandra – Manager</a:t>
            </a: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601664D5-7176-4B77-BBD2-60468D7CFF0D}"/>
              </a:ext>
            </a:extLst>
          </p:cNvPr>
          <p:cNvSpPr/>
          <p:nvPr/>
        </p:nvSpPr>
        <p:spPr>
          <a:xfrm>
            <a:off x="457200" y="274320"/>
            <a:ext cx="8046720" cy="731520"/>
          </a:xfrm>
          <a:prstGeom prst="roundRect">
            <a:avLst/>
          </a:prstGeom>
          <a:solidFill>
            <a:srgbClr val="002060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rgbClr val="FFFFFF"/>
                </a:solidFill>
              </a:rPr>
              <a:t>Fejlesztői csapat</a:t>
            </a:r>
            <a:endParaRPr sz="2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AFF5758-9CDA-4FB2-B8B4-9325AA073E31}"/>
              </a:ext>
            </a:extLst>
          </p:cNvPr>
          <p:cNvSpPr txBox="1"/>
          <p:nvPr/>
        </p:nvSpPr>
        <p:spPr>
          <a:xfrm>
            <a:off x="1244600" y="3075057"/>
            <a:ext cx="665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solidFill>
                  <a:srgbClr val="002060"/>
                </a:solidFill>
                <a:latin typeface="Arial Black" panose="020B0A0402010202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462505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243</Words>
  <Application>Microsoft Office PowerPoint</Application>
  <PresentationFormat>Diavetítés a képernyőre (4:3 oldalarány)</PresentationFormat>
  <Paragraphs>42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Hanusz Bettina Alexandra</cp:lastModifiedBy>
  <cp:revision>9</cp:revision>
  <dcterms:created xsi:type="dcterms:W3CDTF">2013-01-27T09:14:16Z</dcterms:created>
  <dcterms:modified xsi:type="dcterms:W3CDTF">2026-05-19T08:14:08Z</dcterms:modified>
  <cp:category/>
</cp:coreProperties>
</file>