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8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94"/>
    <p:restoredTop sz="94658"/>
  </p:normalViewPr>
  <p:slideViewPr>
    <p:cSldViewPr snapToGrid="0">
      <p:cViewPr varScale="1">
        <p:scale>
          <a:sx n="192" d="100"/>
          <a:sy n="192" d="100"/>
        </p:scale>
        <p:origin x="5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A7A51E-A8AA-CFE0-8917-CBFEC526D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B339194-B9DE-BBFA-0939-F50510CBB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1A6123A-21CB-8A1D-815F-3EB756177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6F1F107-847A-C92A-9B89-8B52170A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DA7577-EF16-74F2-F5B4-698B3A6C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065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9A602B-5DF8-C2A5-74BF-A031FF9A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B998DE-CD82-679A-0467-5A9AB8A12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CAA2EF-046D-E76F-C000-6A67F358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B0658CA-12AA-CF4A-3CDE-37C233BF7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87F4BD-EE7B-2CAF-C617-173F2D21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024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2BE05A-4139-9EA5-FE21-5ABB8756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E29C321-68ED-A049-C1AC-9BA31D927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59FC81-332C-DB22-8634-76D1FE8E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A6F6E9-E62A-DBF1-D05F-F9D5BB01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09A2DE-2D26-4CB2-1A8B-BA8F9A5F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8006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F92AC5-A4EF-CDCA-CD7B-5B6F6638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D0D886-91F5-3CE4-391F-345404709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CB228B-5CD0-013C-2118-3057176E2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C958C48-C104-794B-406E-41C46F73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03F2336-C71F-A19D-FA19-050CF702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1A2042F-D255-63B9-5538-5D7BB615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084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06625F-8A49-1FEE-9938-C0343F5D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E37CC96-9E20-1506-40EC-1275C814C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90BE656-42F0-B101-783C-6A684C8A2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2724125-A3FC-B8CE-4FEB-7AA96DC5D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0616955-7888-ECBC-9A67-DDA92757A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9A7AB4C-EFA8-5349-32D4-0A8BB1B82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B58ECE6-559E-E14E-2BD8-38A37F7E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D4719E5-D7AD-AA50-8EA8-C62C6B64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67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C78879-9497-C804-707A-FCC2F731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4EE8032-B991-0094-44CB-0F8E3E05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6091100-AF45-1770-DDD7-1EF89691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88DBE7B-1A5F-6C1F-8FF4-FA27DBC6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437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1DDC7EA-84BC-7565-E05E-3BC821BF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5AFD940-0EDF-EF4D-BE7C-70BBB885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FB8FDBC-C238-2BEC-D9F8-6554E8BA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308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E0D116-22B4-1C20-624F-943707B11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9E7984-2869-0AAA-2394-EEBC1346F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BF2633C-8C54-6C2C-0A19-8C522772A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1554E04-1262-754E-821F-37DC5487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4BBA63B-A639-A9A5-7EBF-F4F50E27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EE859CC-2BB4-E65C-79B9-8A248AC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463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567A5F-0632-BC5E-2B98-C77DE6AA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6F5A435-2642-85DC-D596-DDD44E997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E2E1601-E664-127B-462C-21A4DF1E0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07B6A56-E24B-0978-0DE7-B7FDED08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FBE0921-1ADE-C12D-0092-762F5EA7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0167B50-6EBA-AD43-287E-5E3041BB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906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33CBCB-35FF-E614-E74B-D92099B9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0E9830B-B521-4550-1AC2-192BA596B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A3FCF94-9B29-F408-8A04-A7AC31D9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DAB6392-30F1-8E5A-05EF-5A7D3C93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477FFA1-B43E-DB12-009A-0D074B7F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066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5E66538-9228-622E-1E67-5F75C15B4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778EB71-688F-6785-C2A6-E2BEFD0CF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C7411EC-E0E9-409E-F8B2-D402287A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E2C11DC-6CF3-D457-6A1E-31A9B051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9DCF1C9-9820-3E9F-6736-3AF6C360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668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4F94ACC-74B6-AA2E-9EDC-97725B34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BB69036-1D77-30C2-ACC9-76A8CDB4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3144A01-D320-D3B0-2369-4730F2738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398DA-9567-4C42-8BD5-C2B5FA9D967B}" type="datetimeFigureOut">
              <a:rPr lang="hu-HU" smtClean="0"/>
              <a:t>2026. 05. 20.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B575962-7CBA-031D-50C3-59B0EF88E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66A5315-819C-8B1B-5700-6661C045D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0B6DC-8890-1940-BDBB-DBE2C678ADC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248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727F2FB6-89FB-1F1F-DE8D-FED024EA5A61}"/>
              </a:ext>
            </a:extLst>
          </p:cNvPr>
          <p:cNvSpPr txBox="1"/>
          <p:nvPr/>
        </p:nvSpPr>
        <p:spPr>
          <a:xfrm>
            <a:off x="3658473" y="1750067"/>
            <a:ext cx="48750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6000" b="1" dirty="0" err="1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NeighbourHub</a:t>
            </a:r>
            <a:endParaRPr lang="hu-HU" sz="6000" b="1" dirty="0">
              <a:solidFill>
                <a:srgbClr val="182C5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DDD3265-E9A6-DE06-C15A-F549A9D10107}"/>
              </a:ext>
            </a:extLst>
          </p:cNvPr>
          <p:cNvSpPr txBox="1"/>
          <p:nvPr/>
        </p:nvSpPr>
        <p:spPr>
          <a:xfrm>
            <a:off x="404849" y="4092270"/>
            <a:ext cx="61052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Készítették:</a:t>
            </a:r>
          </a:p>
          <a:p>
            <a:r>
              <a:rPr lang="hu-HU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Hanusz</a:t>
            </a:r>
            <a:r>
              <a:rPr lang="hu-H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Bettina</a:t>
            </a:r>
          </a:p>
          <a:p>
            <a:r>
              <a:rPr lang="hu-HU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Zsebeházi</a:t>
            </a:r>
            <a:r>
              <a:rPr lang="hu-H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Máté</a:t>
            </a:r>
          </a:p>
          <a:p>
            <a:r>
              <a:rPr lang="hu-H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Tolnai Levente</a:t>
            </a:r>
          </a:p>
          <a:p>
            <a:r>
              <a:rPr lang="hu-H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Szabó Benedek</a:t>
            </a:r>
          </a:p>
          <a:p>
            <a:r>
              <a:rPr lang="hu-H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Nagy Zsombor</a:t>
            </a:r>
          </a:p>
        </p:txBody>
      </p:sp>
      <p:pic>
        <p:nvPicPr>
          <p:cNvPr id="8" name="Kép 7" descr="A képen embléma, szimbólum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3C840B8-2621-FFCA-ACDE-2C06E06FD3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4952" y="273977"/>
            <a:ext cx="571037" cy="571037"/>
          </a:xfrm>
          <a:prstGeom prst="rect">
            <a:avLst/>
          </a:prstGeom>
        </p:spPr>
      </p:pic>
      <p:pic>
        <p:nvPicPr>
          <p:cNvPr id="9" name="Kép 8" descr="A képen Betűtípus, képernyőkép, szöveg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AED185E-2AFB-A44A-988A-005FC24C7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"/>
            <a:ext cx="1356833" cy="7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6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2BB32-D2FF-7DDD-A9EA-F469B855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embléma, szimbólum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D61F696-E44C-7001-4083-F9A96A6861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4952" y="273977"/>
            <a:ext cx="571037" cy="571037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24344DC-40A7-FEC9-C165-1A17AD47FFBB}"/>
              </a:ext>
            </a:extLst>
          </p:cNvPr>
          <p:cNvSpPr txBox="1"/>
          <p:nvPr/>
        </p:nvSpPr>
        <p:spPr>
          <a:xfrm>
            <a:off x="360000" y="1174654"/>
            <a:ext cx="1827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b="1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Probléma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0083A823-6C93-1739-CA55-116AA44205D1}"/>
              </a:ext>
            </a:extLst>
          </p:cNvPr>
          <p:cNvSpPr txBox="1"/>
          <p:nvPr/>
        </p:nvSpPr>
        <p:spPr>
          <a:xfrm>
            <a:off x="705015" y="2060096"/>
            <a:ext cx="3175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>
                <a:latin typeface="Calibri" panose="020F0502020204030204" pitchFamily="34" charset="0"/>
                <a:cs typeface="Calibri" panose="020F0502020204030204" pitchFamily="34" charset="0"/>
              </a:rPr>
              <a:t>Jelenlegi helyzet (probléma)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CC89DC64-2820-C67B-28DD-4F2DE9DA2B2A}"/>
              </a:ext>
            </a:extLst>
          </p:cNvPr>
          <p:cNvSpPr txBox="1"/>
          <p:nvPr/>
        </p:nvSpPr>
        <p:spPr>
          <a:xfrm>
            <a:off x="918796" y="2580214"/>
            <a:ext cx="488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Nincs semmilyen felület a lakóközösségek számára amin a fontos információkat láthatnák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11C4868-60A7-8E50-9869-520719ED8CFA}"/>
              </a:ext>
            </a:extLst>
          </p:cNvPr>
          <p:cNvSpPr txBox="1"/>
          <p:nvPr/>
        </p:nvSpPr>
        <p:spPr>
          <a:xfrm>
            <a:off x="918796" y="3388407"/>
            <a:ext cx="4468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Ha pedig van, akkor nagyon elavult a rendszer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DE12D4A1-AD87-EE1A-EFC8-54547393A52E}"/>
              </a:ext>
            </a:extLst>
          </p:cNvPr>
          <p:cNvSpPr txBox="1"/>
          <p:nvPr/>
        </p:nvSpPr>
        <p:spPr>
          <a:xfrm>
            <a:off x="705015" y="4166064"/>
            <a:ext cx="2498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dirty="0">
                <a:latin typeface="Calibri" panose="020F0502020204030204" pitchFamily="34" charset="0"/>
                <a:cs typeface="Calibri" panose="020F0502020204030204" pitchFamily="34" charset="0"/>
              </a:rPr>
              <a:t>Célkitűzés (megoldás)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72F54125-E014-75F5-2FE5-B657B902854D}"/>
              </a:ext>
            </a:extLst>
          </p:cNvPr>
          <p:cNvSpPr txBox="1"/>
          <p:nvPr/>
        </p:nvSpPr>
        <p:spPr>
          <a:xfrm>
            <a:off x="1009915" y="4702539"/>
            <a:ext cx="2310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Modern, webes felület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3D01D7F4-09B9-4D3A-B78E-B2F560A8347E}"/>
              </a:ext>
            </a:extLst>
          </p:cNvPr>
          <p:cNvSpPr txBox="1"/>
          <p:nvPr/>
        </p:nvSpPr>
        <p:spPr>
          <a:xfrm>
            <a:off x="1009915" y="5258708"/>
            <a:ext cx="2906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Átlátható, könnyen kezelhető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FE8B130E-00D0-2FF3-2155-831935748532}"/>
              </a:ext>
            </a:extLst>
          </p:cNvPr>
          <p:cNvSpPr txBox="1"/>
          <p:nvPr/>
        </p:nvSpPr>
        <p:spPr>
          <a:xfrm>
            <a:off x="1009915" y="5814877"/>
            <a:ext cx="347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Minden fontos információ elérhető</a:t>
            </a:r>
          </a:p>
        </p:txBody>
      </p:sp>
      <p:pic>
        <p:nvPicPr>
          <p:cNvPr id="22" name="Kép 21" descr="A képen Betűtípus, képernyőkép, szöveg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2134F24-8333-80BB-13FD-7FACA9300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"/>
            <a:ext cx="1356833" cy="762159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5EDAF51F-0E58-F574-0BD5-D133AF5CA1AA}"/>
              </a:ext>
            </a:extLst>
          </p:cNvPr>
          <p:cNvSpPr txBox="1"/>
          <p:nvPr/>
        </p:nvSpPr>
        <p:spPr>
          <a:xfrm>
            <a:off x="7805714" y="2188078"/>
            <a:ext cx="274876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Szavazások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Hibabejelentés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Közösségi helyek foglalása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Alaprajz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Dokumentumtár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Privát üzenetküldés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5736124-AE25-0BD0-E37D-04DAFAF1A81C}"/>
              </a:ext>
            </a:extLst>
          </p:cNvPr>
          <p:cNvSpPr txBox="1"/>
          <p:nvPr/>
        </p:nvSpPr>
        <p:spPr>
          <a:xfrm>
            <a:off x="6740166" y="1169865"/>
            <a:ext cx="2131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b="1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Fő funkciók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225C0EB5-1733-8FD3-B806-DEF18958BA2F}"/>
              </a:ext>
            </a:extLst>
          </p:cNvPr>
          <p:cNvCxnSpPr>
            <a:cxnSpLocks/>
          </p:cNvCxnSpPr>
          <p:nvPr/>
        </p:nvCxnSpPr>
        <p:spPr>
          <a:xfrm>
            <a:off x="6271639" y="1232056"/>
            <a:ext cx="0" cy="5235005"/>
          </a:xfrm>
          <a:prstGeom prst="line">
            <a:avLst/>
          </a:prstGeom>
          <a:ln>
            <a:solidFill>
              <a:srgbClr val="182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53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725B1-7417-2E66-C4D7-34BFAED0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embléma, szimbólum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D16E66B-FF68-3614-A18F-4B1C9537FD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4952" y="273977"/>
            <a:ext cx="571037" cy="571037"/>
          </a:xfrm>
          <a:prstGeom prst="rect">
            <a:avLst/>
          </a:prstGeom>
        </p:spPr>
      </p:pic>
      <p:pic>
        <p:nvPicPr>
          <p:cNvPr id="5" name="Kép 4" descr="A képen Betűtípus, képernyőkép, szöveg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042A56E-8E08-7EBC-C20A-E664D8D41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"/>
            <a:ext cx="1356833" cy="7621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2F503882-84B3-A9C8-CE00-44B767A28FE7}"/>
              </a:ext>
            </a:extLst>
          </p:cNvPr>
          <p:cNvSpPr txBox="1"/>
          <p:nvPr/>
        </p:nvSpPr>
        <p:spPr>
          <a:xfrm>
            <a:off x="360000" y="1063836"/>
            <a:ext cx="3921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b="1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Használt technológiák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2AB15CB-F9AE-A925-0E7D-6A01DD957A31}"/>
              </a:ext>
            </a:extLst>
          </p:cNvPr>
          <p:cNvSpPr txBox="1"/>
          <p:nvPr/>
        </p:nvSpPr>
        <p:spPr>
          <a:xfrm>
            <a:off x="373040" y="1770289"/>
            <a:ext cx="1581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u="sng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Architektúra: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F79EA4B-271E-D22A-EEF4-D903B71BA131}"/>
              </a:ext>
            </a:extLst>
          </p:cNvPr>
          <p:cNvSpPr txBox="1"/>
          <p:nvPr/>
        </p:nvSpPr>
        <p:spPr>
          <a:xfrm>
            <a:off x="646970" y="2241938"/>
            <a:ext cx="579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Háromrétegű modell: 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Frontend, backend, adatkezelési réteg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A9FBEFE-01C7-A7F1-3A1E-19584FA4D4E3}"/>
              </a:ext>
            </a:extLst>
          </p:cNvPr>
          <p:cNvSpPr txBox="1"/>
          <p:nvPr/>
        </p:nvSpPr>
        <p:spPr>
          <a:xfrm>
            <a:off x="7106154" y="1765785"/>
            <a:ext cx="2291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u="sng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Kiegészítő funkciók: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7DB07C25-49C4-907B-2E4E-A786BCB6926C}"/>
              </a:ext>
            </a:extLst>
          </p:cNvPr>
          <p:cNvSpPr txBox="1"/>
          <p:nvPr/>
        </p:nvSpPr>
        <p:spPr>
          <a:xfrm>
            <a:off x="7346954" y="2241938"/>
            <a:ext cx="442820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Többnyelvűség (i18n)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Pinpointok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az alaprajzon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Automatikusan 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frissulo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oldal a a felhívásokkal</a:t>
            </a:r>
          </a:p>
        </p:txBody>
      </p: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410D2E37-BAAC-D5AB-DF25-1B0D7A4D5543}"/>
              </a:ext>
            </a:extLst>
          </p:cNvPr>
          <p:cNvCxnSpPr>
            <a:cxnSpLocks/>
          </p:cNvCxnSpPr>
          <p:nvPr/>
        </p:nvCxnSpPr>
        <p:spPr>
          <a:xfrm>
            <a:off x="6722212" y="1828404"/>
            <a:ext cx="0" cy="4851779"/>
          </a:xfrm>
          <a:prstGeom prst="line">
            <a:avLst/>
          </a:prstGeom>
          <a:ln>
            <a:solidFill>
              <a:srgbClr val="182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9E74AD49-2339-BE76-29B1-F7169B500141}"/>
              </a:ext>
            </a:extLst>
          </p:cNvPr>
          <p:cNvSpPr txBox="1"/>
          <p:nvPr/>
        </p:nvSpPr>
        <p:spPr>
          <a:xfrm>
            <a:off x="653533" y="2910772"/>
            <a:ext cx="5684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Backend: </a:t>
            </a:r>
            <a:r>
              <a:rPr lang="hu-HU" dirty="0"/>
              <a:t>.NET 8, ASP.NET </a:t>
            </a:r>
            <a:r>
              <a:rPr lang="hu-HU" dirty="0" err="1"/>
              <a:t>Core</a:t>
            </a:r>
            <a:r>
              <a:rPr lang="hu-HU" dirty="0"/>
              <a:t>, ASP.NET </a:t>
            </a:r>
            <a:r>
              <a:rPr lang="hu-HU" dirty="0" err="1"/>
              <a:t>Identity</a:t>
            </a:r>
            <a:r>
              <a:rPr lang="hu-HU" dirty="0"/>
              <a:t>, JWT </a:t>
            </a:r>
            <a:r>
              <a:rPr lang="hu-HU" dirty="0" err="1"/>
              <a:t>Bearer</a:t>
            </a:r>
            <a:r>
              <a:rPr lang="hu-HU" dirty="0"/>
              <a:t> </a:t>
            </a:r>
            <a:r>
              <a:rPr lang="hu-HU" dirty="0" err="1"/>
              <a:t>auth</a:t>
            </a:r>
            <a:r>
              <a:rPr lang="hu-HU" dirty="0"/>
              <a:t>, </a:t>
            </a:r>
            <a:r>
              <a:rPr lang="hu-HU" dirty="0" err="1"/>
              <a:t>Entity</a:t>
            </a:r>
            <a:r>
              <a:rPr lang="hu-HU" dirty="0"/>
              <a:t> Framework </a:t>
            </a:r>
            <a:r>
              <a:rPr lang="hu-HU" dirty="0" err="1"/>
              <a:t>Core</a:t>
            </a:r>
            <a:r>
              <a:rPr lang="hu-HU" dirty="0"/>
              <a:t> 9, SQL Server, </a:t>
            </a:r>
            <a:r>
              <a:rPr lang="hu-HU" dirty="0" err="1"/>
              <a:t>Swagger</a:t>
            </a:r>
            <a:r>
              <a:rPr lang="hu-HU" dirty="0"/>
              <a:t>/</a:t>
            </a:r>
            <a:r>
              <a:rPr lang="hu-HU" dirty="0" err="1"/>
              <a:t>OpenAPI</a:t>
            </a:r>
            <a:r>
              <a:rPr lang="hu-HU" dirty="0"/>
              <a:t>, </a:t>
            </a:r>
            <a:r>
              <a:rPr lang="hu-HU" dirty="0" err="1"/>
              <a:t>AutoMapper</a:t>
            </a: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1C4F491-F35E-F97B-4D61-F8DDBF2EA33F}"/>
              </a:ext>
            </a:extLst>
          </p:cNvPr>
          <p:cNvSpPr txBox="1"/>
          <p:nvPr/>
        </p:nvSpPr>
        <p:spPr>
          <a:xfrm>
            <a:off x="646970" y="4318270"/>
            <a:ext cx="5684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Frontend: </a:t>
            </a:r>
            <a:r>
              <a:rPr lang="hu-HU" dirty="0" err="1"/>
              <a:t>Angular</a:t>
            </a:r>
            <a:r>
              <a:rPr lang="hu-HU" dirty="0"/>
              <a:t> 19, </a:t>
            </a:r>
            <a:r>
              <a:rPr lang="hu-HU" dirty="0" err="1"/>
              <a:t>TypeScript</a:t>
            </a:r>
            <a:r>
              <a:rPr lang="hu-HU" dirty="0"/>
              <a:t> 5.7, </a:t>
            </a:r>
            <a:r>
              <a:rPr lang="hu-HU" dirty="0" err="1"/>
              <a:t>RxJS</a:t>
            </a:r>
            <a:r>
              <a:rPr lang="hu-HU" dirty="0"/>
              <a:t> 7.8, </a:t>
            </a:r>
            <a:r>
              <a:rPr lang="hu-HU" dirty="0" err="1"/>
              <a:t>Bootstrap</a:t>
            </a:r>
            <a:r>
              <a:rPr lang="hu-HU" dirty="0"/>
              <a:t> 5.3, </a:t>
            </a:r>
            <a:r>
              <a:rPr lang="hu-HU" dirty="0" err="1"/>
              <a:t>Bootstrap</a:t>
            </a:r>
            <a:r>
              <a:rPr lang="hu-HU" dirty="0"/>
              <a:t> </a:t>
            </a:r>
            <a:r>
              <a:rPr lang="hu-HU" dirty="0" err="1"/>
              <a:t>Icons</a:t>
            </a:r>
            <a:r>
              <a:rPr lang="hu-HU" dirty="0"/>
              <a:t>, </a:t>
            </a:r>
            <a:r>
              <a:rPr lang="hu-HU" dirty="0" err="1"/>
              <a:t>ngx-translate</a:t>
            </a:r>
            <a:r>
              <a:rPr lang="hu-HU" dirty="0"/>
              <a:t>, </a:t>
            </a:r>
            <a:r>
              <a:rPr lang="hu-HU" dirty="0" err="1"/>
              <a:t>Zone.js</a:t>
            </a:r>
            <a:r>
              <a:rPr lang="hu-HU" dirty="0"/>
              <a:t>.</a:t>
            </a: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B618323D-C7E3-A4FC-7886-05DD798FD81A}"/>
              </a:ext>
            </a:extLst>
          </p:cNvPr>
          <p:cNvSpPr txBox="1"/>
          <p:nvPr/>
        </p:nvSpPr>
        <p:spPr>
          <a:xfrm>
            <a:off x="7106154" y="4043333"/>
            <a:ext cx="1079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b="1" u="sng" dirty="0" err="1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lang="hu-HU" sz="2000" b="1" u="sng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C62D7D0-54E5-0CF2-6882-0D8838F7F03A}"/>
              </a:ext>
            </a:extLst>
          </p:cNvPr>
          <p:cNvSpPr txBox="1"/>
          <p:nvPr/>
        </p:nvSpPr>
        <p:spPr>
          <a:xfrm>
            <a:off x="7346954" y="4567695"/>
            <a:ext cx="42337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Kitelepítés 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linux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szerverre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Docker használata (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compose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CI/CD 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pipeline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bevezetése (GitHub 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Actions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299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DE468-2C64-B67A-21D8-78BA0895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embléma, szimbólum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2C749D6-DE2C-5ADA-D503-D29DF20B71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4952" y="273977"/>
            <a:ext cx="571037" cy="571037"/>
          </a:xfrm>
          <a:prstGeom prst="rect">
            <a:avLst/>
          </a:prstGeom>
        </p:spPr>
      </p:pic>
      <p:pic>
        <p:nvPicPr>
          <p:cNvPr id="5" name="Kép 4" descr="A képen Betűtípus, képernyőkép, szöveg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3AA3F6B-885D-AFD1-EB76-0F2AFCE40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"/>
            <a:ext cx="1356833" cy="7621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E2E6F1E8-8BFB-8F29-5C8B-1A13ECD70B76}"/>
              </a:ext>
            </a:extLst>
          </p:cNvPr>
          <p:cNvSpPr txBox="1"/>
          <p:nvPr/>
        </p:nvSpPr>
        <p:spPr>
          <a:xfrm>
            <a:off x="360000" y="1477900"/>
            <a:ext cx="31565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b="1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Munkamegosztás</a:t>
            </a:r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8A655DE8-F2EA-2686-EFE0-0D8C7674B269}"/>
              </a:ext>
            </a:extLst>
          </p:cNvPr>
          <p:cNvCxnSpPr>
            <a:cxnSpLocks/>
          </p:cNvCxnSpPr>
          <p:nvPr/>
        </p:nvCxnSpPr>
        <p:spPr>
          <a:xfrm>
            <a:off x="5889604" y="1704027"/>
            <a:ext cx="0" cy="4930763"/>
          </a:xfrm>
          <a:prstGeom prst="line">
            <a:avLst/>
          </a:prstGeom>
          <a:ln>
            <a:solidFill>
              <a:srgbClr val="182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373D3FB0-1070-8E19-D7F9-59F87EF30948}"/>
              </a:ext>
            </a:extLst>
          </p:cNvPr>
          <p:cNvSpPr txBox="1"/>
          <p:nvPr/>
        </p:nvSpPr>
        <p:spPr>
          <a:xfrm>
            <a:off x="892851" y="2646736"/>
            <a:ext cx="49967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Nagy Zsombor – 25%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Hanusz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Bettina – 19%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Szabó Benedek – 19%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Tolnai Levente – 19%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Zsebeházi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Máté – 18%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43DF3416-CBB3-AA28-3966-3E6676902D03}"/>
              </a:ext>
            </a:extLst>
          </p:cNvPr>
          <p:cNvSpPr txBox="1"/>
          <p:nvPr/>
        </p:nvSpPr>
        <p:spPr>
          <a:xfrm>
            <a:off x="6580688" y="1477900"/>
            <a:ext cx="4356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200" b="1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Csapatmunka értékelése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90AB909-616A-D1D9-20C8-33B64DE47C91}"/>
              </a:ext>
            </a:extLst>
          </p:cNvPr>
          <p:cNvSpPr txBox="1"/>
          <p:nvPr/>
        </p:nvSpPr>
        <p:spPr>
          <a:xfrm>
            <a:off x="6860470" y="2646735"/>
            <a:ext cx="499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A 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fullstack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alapú fejlesztés rugalmasabbá és gördülékenyebbé tette a fejlesztést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A13D338-CF4F-F502-CDE8-A2263866A435}"/>
              </a:ext>
            </a:extLst>
          </p:cNvPr>
          <p:cNvSpPr txBox="1"/>
          <p:nvPr/>
        </p:nvSpPr>
        <p:spPr>
          <a:xfrm>
            <a:off x="6860469" y="3578829"/>
            <a:ext cx="499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Probléma esetén jó kommunikáció, gyors megoldások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C428B998-C570-B85A-03DF-F8A52327775C}"/>
              </a:ext>
            </a:extLst>
          </p:cNvPr>
          <p:cNvSpPr txBox="1"/>
          <p:nvPr/>
        </p:nvSpPr>
        <p:spPr>
          <a:xfrm>
            <a:off x="6860470" y="4502039"/>
            <a:ext cx="499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- Minőségre mindenki olyan kódot adott ki ami elvárható ezen a szinten</a:t>
            </a:r>
          </a:p>
        </p:txBody>
      </p:sp>
    </p:spTree>
    <p:extLst>
      <p:ext uri="{BB962C8B-B14F-4D97-AF65-F5344CB8AC3E}">
        <p14:creationId xmlns:p14="http://schemas.microsoft.com/office/powerpoint/2010/main" val="256443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24D6B-4C51-85B8-4EFC-A0CDDD14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embléma, szimbólum, Betűtípus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4D394C2-44AB-35A3-8B99-6EE786B2B72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4952" y="273977"/>
            <a:ext cx="571037" cy="571037"/>
          </a:xfrm>
          <a:prstGeom prst="rect">
            <a:avLst/>
          </a:prstGeom>
        </p:spPr>
      </p:pic>
      <p:pic>
        <p:nvPicPr>
          <p:cNvPr id="6" name="Kép 5" descr="A képen Betűtípus, képernyőkép, szöveg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452A436-9702-2538-C5F3-9EF4B45FB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180000"/>
            <a:ext cx="1356833" cy="762159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E67CB3EF-0EE3-7C0C-EC8E-AF840F1DDB0D}"/>
              </a:ext>
            </a:extLst>
          </p:cNvPr>
          <p:cNvSpPr txBox="1"/>
          <p:nvPr/>
        </p:nvSpPr>
        <p:spPr>
          <a:xfrm>
            <a:off x="3340758" y="3044279"/>
            <a:ext cx="54672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400" b="1" dirty="0">
                <a:solidFill>
                  <a:srgbClr val="182C5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04515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241</Words>
  <Application>Microsoft Macintosh PowerPoint</Application>
  <PresentationFormat>Szélesvásznú</PresentationFormat>
  <Paragraphs>59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Aptos Display</vt:lpstr>
      <vt:lpstr>Calibri</vt:lpstr>
      <vt:lpstr>Arial</vt:lpstr>
      <vt:lpstr>Aptos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Zsombor</dc:creator>
  <cp:lastModifiedBy>Nagy Zsombor</cp:lastModifiedBy>
  <cp:revision>29</cp:revision>
  <dcterms:created xsi:type="dcterms:W3CDTF">2026-05-10T08:59:39Z</dcterms:created>
  <dcterms:modified xsi:type="dcterms:W3CDTF">2026-05-20T10:07:56Z</dcterms:modified>
</cp:coreProperties>
</file>